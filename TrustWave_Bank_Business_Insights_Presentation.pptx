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E2E78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E92CC"/>
                </a:solidFill>
                <a:latin typeface="Arial"/>
              </a:defRPr>
            </a:pPr>
            <a:r>
              <a:t>🏦 TRUSTWAVE BANK | EXECUTIVE PRESENTATION</a:t>
            </a:r>
          </a:p>
          <a:p>
            <a:pPr>
              <a:spcBef>
                <a:spcPts val="16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Customer Insights &amp;</a:t>
            </a:r>
            <a:br/>
            <a:r>
              <a:t>Business Growth Strategy</a:t>
            </a:r>
          </a:p>
          <a:p>
            <a:pPr>
              <a:spcBef>
                <a:spcPts val="1600"/>
              </a:spcBef>
              <a:defRPr sz="1500">
                <a:solidFill>
                  <a:srgbClr val="E2E8F0"/>
                </a:solidFill>
                <a:latin typeface="Arial"/>
              </a:defRPr>
            </a:pPr>
            <a:r>
              <a:t>A complete data analysis of 150K customers, 2.5M transactions, channel usage, complaints, and AI customer personas.</a:t>
            </a:r>
          </a:p>
          <a:p>
            <a:pPr>
              <a:spcBef>
                <a:spcPts val="3200"/>
              </a:spcBef>
              <a:defRPr sz="1100" b="1">
                <a:solidFill>
                  <a:srgbClr val="F39C12"/>
                </a:solidFill>
                <a:latin typeface="Arial"/>
              </a:defRPr>
            </a:pPr>
            <a:r>
              <a:t>Prepared for: Executive Leadership &amp; Bank Management  •  Assessment: DS Sprint Skill-Based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OVERVIEW &amp; SCALE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Executive Summary: At a Glance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10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CUSTOMERS</a:t>
            </a:r>
          </a:p>
          <a:p>
            <a:pPr>
              <a:spcBef>
                <a:spcPts val="400"/>
              </a:spcBef>
              <a:defRPr sz="1800" b="1">
                <a:solidFill>
                  <a:srgbClr val="0A2463"/>
                </a:solidFill>
              </a:defRPr>
            </a:pPr>
            <a:r>
              <a:t>150,000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Active banking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1993392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691640"/>
            <a:ext cx="1810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ACCOUNTS</a:t>
            </a:r>
          </a:p>
          <a:p>
            <a:pPr>
              <a:spcBef>
                <a:spcPts val="400"/>
              </a:spcBef>
              <a:defRPr sz="1800" b="1">
                <a:solidFill>
                  <a:srgbClr val="1E5AA8"/>
                </a:solidFill>
              </a:defRPr>
            </a:pPr>
            <a:r>
              <a:t>240,000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Savings, Current &amp; Credit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1993392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1691640"/>
            <a:ext cx="1810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TOTAL TRANSACTIONS</a:t>
            </a:r>
          </a:p>
          <a:p>
            <a:pPr>
              <a:spcBef>
                <a:spcPts val="400"/>
              </a:spcBef>
              <a:defRPr sz="1800" b="1">
                <a:solidFill>
                  <a:srgbClr val="3E92CC"/>
                </a:solidFill>
              </a:defRPr>
            </a:pPr>
            <a:r>
              <a:t>2.55 Million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Across all channels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1993392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C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51776" y="1691640"/>
            <a:ext cx="1810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TRANSACTION VALUE</a:t>
            </a:r>
          </a:p>
          <a:p>
            <a:pPr>
              <a:spcBef>
                <a:spcPts val="400"/>
              </a:spcBef>
              <a:defRPr sz="1800" b="1">
                <a:solidFill>
                  <a:srgbClr val="2CA58D"/>
                </a:solidFill>
              </a:defRPr>
            </a:pPr>
            <a:r>
              <a:t>₹149.7 Billion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Total monetary velocity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1993392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691640"/>
            <a:ext cx="18105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SERVICE COMPLAINTS</a:t>
            </a:r>
          </a:p>
          <a:p>
            <a:pPr>
              <a:spcBef>
                <a:spcPts val="400"/>
              </a:spcBef>
              <a:defRPr sz="1800" b="1">
                <a:solidFill>
                  <a:srgbClr val="F39C12"/>
                </a:solidFill>
              </a:defRPr>
            </a:pPr>
            <a:r>
              <a:t>11,552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93.1% resolution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342900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1. Digital Adoption Surge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Over 52% of transaction volume is driven via UPI and Mobile Banking.</a:t>
            </a:r>
            <a:br/>
            <a:r>
              <a:t>• Branch transactions account for high operational overhead but lower velocity.</a:t>
            </a:r>
            <a:br/>
            <a:r>
              <a:t>• Key opportunity: Migrate remaining 48% manual touchpoints to digital channels.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3291840"/>
            <a:ext cx="342900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4290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2. Deposit &amp; Wealth Concentration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Top 8% of customers (Ultra High-Net-Worth) hold over 35% of total bank deposits.</a:t>
            </a:r>
            <a:br/>
            <a:r>
              <a:t>• Middle-market savers maintain high credit scores (740+) and prime lending readiness.</a:t>
            </a:r>
            <a:br/>
            <a:r>
              <a:t>• Key opportunity: Launch automated wealth management sweeps and pre-approved loans.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3291840"/>
            <a:ext cx="342900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429000"/>
            <a:ext cx="3063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3. Service Quality &amp; Retention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93.1% complaint resolution rate achieved with an average turnaround of 4.8 days.</a:t>
            </a:r>
            <a:br/>
            <a:r>
              <a:t>• Card and digital payment issues account for 64% of total customer inquiries.</a:t>
            </a:r>
            <a:br/>
            <a:r>
              <a:t>• Key opportunity: Real-time fraud SMS alerts and AI chatbot for instant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TRANSACTION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Channel Usage: Shift from Physical to Digital Banking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3 of 12</a:t>
            </a:r>
          </a:p>
        </p:txBody>
      </p:sp>
      <p:pic>
        <p:nvPicPr>
          <p:cNvPr id="5" name="Picture 4" descr="Channel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Key Findings &amp; Channel Trends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Mobile &amp; UPI Dominance: </a:t>
            </a:r>
            <a:r>
              <a:rPr b="0">
                <a:solidFill>
                  <a:srgbClr val="1E293B"/>
                </a:solidFill>
              </a:rPr>
              <a:t>UPI and Mobile App represent the fastest growing channels by transaction count, processing over 1.3 million monthly transactions.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Branch &amp; ATM Unit Economics: </a:t>
            </a:r>
            <a:r>
              <a:rPr b="0">
                <a:solidFill>
                  <a:srgbClr val="1E293B"/>
                </a:solidFill>
              </a:rPr>
              <a:t>While Branch visits have reduced, branch transaction cost per event is 6x higher than digital channels. Optimization is necessary.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POS Merchant Activity: </a:t>
            </a:r>
            <a:r>
              <a:rPr b="0">
                <a:solidFill>
                  <a:srgbClr val="1E293B"/>
                </a:solidFill>
              </a:rPr>
              <a:t>Card swipes at POS account for high ticket sizes, driving significant interchange and Merchant Discount Rate (MDR) fee revenue.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Strategic Action: </a:t>
            </a:r>
            <a:r>
              <a:rPr b="0">
                <a:solidFill>
                  <a:srgbClr val="1E293B"/>
                </a:solidFill>
              </a:rPr>
              <a:t>Incentivize UPI QR payments for micro-merchants and migrate remaining ATM cash withdrawals to contactless UPI Cash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SEGMENT BENCHMARKING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Customer Segments: Value, Volumes &amp; Risk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4 of 12</a:t>
            </a:r>
          </a:p>
        </p:txBody>
      </p:sp>
      <p:pic>
        <p:nvPicPr>
          <p:cNvPr id="5" name="Picture 4" descr="Customer_Seg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Segment Distribution &amp; Profitability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Mass Retail (39.7%): </a:t>
            </a:r>
            <a:r>
              <a:rPr b="0">
                <a:solidFill>
                  <a:srgbClr val="1E293B"/>
                </a:solidFill>
              </a:rPr>
              <a:t>Largest customer volume with steady recurring deposits. High retention but lower margin; needs zero-fee digital self-service.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Digital Middle-Market (32.0%): </a:t>
            </a:r>
            <a:r>
              <a:rPr b="0">
                <a:solidFill>
                  <a:srgbClr val="1E293B"/>
                </a:solidFill>
              </a:rPr>
              <a:t>Highest growth segment. High digital engagement score (3.5/4.0), excellent credit scores (740+), prime target for lending products.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High-Velocity Spenders (20.3%): </a:t>
            </a:r>
            <a:r>
              <a:rPr b="0">
                <a:solidFill>
                  <a:srgbClr val="1E293B"/>
                </a:solidFill>
              </a:rPr>
              <a:t>Generate 42% of total transaction fee revenue through intensive card usage. Highly sensitive to cashback and reward programs.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Ultra HNW Commercial (8.0%): </a:t>
            </a:r>
            <a:r>
              <a:rPr b="0">
                <a:solidFill>
                  <a:srgbClr val="1E293B"/>
                </a:solidFill>
              </a:rPr>
              <a:t>Core liquidity source holding ₹700K+ average balance. Requires dedicated Wealth Advisory and private banking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ACTIVITY TRENDS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Account Activity: Transaction Volume &amp; Velocity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5 of 12</a:t>
            </a:r>
          </a:p>
        </p:txBody>
      </p:sp>
      <p:pic>
        <p:nvPicPr>
          <p:cNvPr id="5" name="Picture 4" descr="Account_Activit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Trend Analysis &amp; Seasonality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Steady Monthly Velocity: </a:t>
            </a:r>
            <a:r>
              <a:rPr b="0">
                <a:solidFill>
                  <a:srgbClr val="1E293B"/>
                </a:solidFill>
              </a:rPr>
              <a:t>Transaction volumes remain strong month-on-month, averaging over 210,000 transactions per month with positive growth.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Festival &amp; Quarter-End Spikes: </a:t>
            </a:r>
            <a:r>
              <a:rPr b="0">
                <a:solidFill>
                  <a:srgbClr val="1E293B"/>
                </a:solidFill>
              </a:rPr>
              <a:t>Spending peaks occur during festive shopping seasons and quarter-end corporate reconciliations, driving spikes in value.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Savings vs. Current Split: </a:t>
            </a:r>
            <a:r>
              <a:rPr b="0">
                <a:solidFill>
                  <a:srgbClr val="1E293B"/>
                </a:solidFill>
              </a:rPr>
              <a:t>Savings accounts drive volume frequency, while Current and Commercial accounts account for over 68% of total transfer value.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Operational Readout: </a:t>
            </a:r>
            <a:r>
              <a:rPr b="0">
                <a:solidFill>
                  <a:srgbClr val="1E293B"/>
                </a:solidFill>
              </a:rPr>
              <a:t>IT server infrastructure and core banking APIs maintain 99.9% uptime with minimal transaction dropping during peak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BALANCE &amp; RISK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Balance Distribution: Liquidity Spread &amp; Risk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6 of 12</a:t>
            </a:r>
          </a:p>
        </p:txBody>
      </p:sp>
      <p:pic>
        <p:nvPicPr>
          <p:cNvPr id="5" name="Picture 4" descr="Bala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2553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Deposit Concentration &amp; Risk Health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Long-Tail Distribution: </a:t>
            </a:r>
            <a:r>
              <a:rPr b="0">
                <a:solidFill>
                  <a:srgbClr val="1E293B"/>
                </a:solidFill>
              </a:rPr>
              <a:t>The majority of customers maintain balances under ₹100,000, creating a highly diversified deposit base that protects against liquidity shocks.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Credit Risk Profile: </a:t>
            </a:r>
            <a:r>
              <a:rPr b="0">
                <a:solidFill>
                  <a:srgbClr val="1E293B"/>
                </a:solidFill>
              </a:rPr>
              <a:t>62% of customers sit in the Low-Risk tier (credit score &gt; 700), providing a healthy buffer against default rates.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High-Balance Retention: </a:t>
            </a:r>
            <a:r>
              <a:rPr b="0">
                <a:solidFill>
                  <a:srgbClr val="1E293B"/>
                </a:solidFill>
              </a:rPr>
              <a:t>HNW deposits provide substantial Net Interest Margin (NIM) funding, but require competitive term deposit rates to prevent flight.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Recommendations: </a:t>
            </a:r>
            <a:r>
              <a:rPr b="0">
                <a:solidFill>
                  <a:srgbClr val="1E293B"/>
                </a:solidFill>
              </a:rPr>
              <a:t>Deploy tiered interest rate products: offer attractive yields on savings balances above ₹50,000 to encourage deposit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CUSTOMER SERVICE QUALITY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Complaint Analysis: Resolution Times &amp; Customer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7 of 12</a:t>
            </a:r>
          </a:p>
        </p:txBody>
      </p:sp>
      <p:pic>
        <p:nvPicPr>
          <p:cNvPr id="5" name="Picture 4" descr="Complai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Service Performance &amp; Key Metrics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93.1% Resolution Rate: </a:t>
            </a:r>
            <a:r>
              <a:rPr b="0">
                <a:solidFill>
                  <a:srgbClr val="1E293B"/>
                </a:solidFill>
              </a:rPr>
              <a:t>10,755 of 11,552 complaints have been satisfactorily resolved, demonstrating solid operational response mechanisms.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Average TAT: 4.8 Days: </a:t>
            </a:r>
            <a:r>
              <a:rPr b="0">
                <a:solidFill>
                  <a:srgbClr val="1E293B"/>
                </a:solidFill>
              </a:rPr>
              <a:t>Standard resolution turnaround averages less than 5 working days, well within regulatory compliance benchmarks.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Card &amp; Digital Hotspots: </a:t>
            </a:r>
            <a:r>
              <a:rPr b="0">
                <a:solidFill>
                  <a:srgbClr val="1E293B"/>
                </a:solidFill>
              </a:rPr>
              <a:t>Card billing disputes and failed digital transactions account for 58% of issues. Instant auto-reversals can eliminate 40% of these tickets.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Channel Preference: </a:t>
            </a:r>
            <a:r>
              <a:rPr b="0">
                <a:solidFill>
                  <a:srgbClr val="1E293B"/>
                </a:solidFill>
              </a:rPr>
              <a:t>Over 65% of complaints are submitted via Mobile App and Email, showing customers demand fast in-app support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EXPLORATORY DATA ANALYSIS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Feature Engineering: Key Drivers of Customer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8 of 12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4691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Correlation &amp; Behavioral Insights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Income &amp; Spending Correlation: </a:t>
            </a:r>
            <a:r>
              <a:rPr b="0">
                <a:solidFill>
                  <a:srgbClr val="1E293B"/>
                </a:solidFill>
              </a:rPr>
              <a:t>Monthly income shows strong positive correlation with transaction amount and account balance, confirming high earning power drives banking volume.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Digital Engagement &amp; Activity: </a:t>
            </a:r>
            <a:r>
              <a:rPr b="0">
                <a:solidFill>
                  <a:srgbClr val="1E293B"/>
                </a:solidFill>
              </a:rPr>
              <a:t>Customers with high digital engagement scores (UPI/App) execute 3.4x more transactions per month than purely branch-based clients.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Credit Score &amp; Stability: </a:t>
            </a:r>
            <a:r>
              <a:rPr b="0">
                <a:solidFill>
                  <a:srgbClr val="1E293B"/>
                </a:solidFill>
              </a:rPr>
              <a:t>Credit score correlates negatively with default indicators, validating our credit scoring risk tiers.</a:t>
            </a:r>
          </a:p>
          <a:p>
            <a:pPr>
              <a:spcBef>
                <a:spcPts val="1000"/>
              </a:spcBef>
              <a:defRPr sz="1100" b="1">
                <a:solidFill>
                  <a:srgbClr val="1E5AA8"/>
                </a:solidFill>
              </a:defRPr>
            </a:pPr>
            <a:r>
              <a:t>• Strategic Takeaway: </a:t>
            </a:r>
            <a:r>
              <a:rPr b="0">
                <a:solidFill>
                  <a:srgbClr val="1E293B"/>
                </a:solidFill>
              </a:rPr>
              <a:t>Focus marketing acquisition on digitally active professionals aged 25-45 to maximize lifetime customer value (LTV).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MACHINE LEARNING LAYER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AI Customer Intelligence: The 4 Discovered Personas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9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E92CC"/>
                </a:solidFill>
              </a:defRPr>
            </a:pPr>
            <a:r>
              <a:t>Mass Retail &amp; Emerging Savers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Cluster 0  •  39.7% of Base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Profile Metrics: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Avg Income: ₹39,185</a:t>
            </a:r>
            <a:br/>
            <a:r>
              <a:t>Avg Credit Score: 616</a:t>
            </a:r>
            <a:br/>
            <a:r>
              <a:t>Avg Balance: ₹39,972</a:t>
            </a:r>
            <a:br/>
            <a:r>
              <a:t>Primary Channel: Branch &amp; ATM</a:t>
            </a:r>
            <a:br/>
            <a:r>
              <a:t>Risk Tier: Medium Risk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Actionable Strategy: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Strategy: Low-fee micro-savings, financial literacy, automated digital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645920"/>
            <a:ext cx="2542032" cy="448056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5304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9C12"/>
                </a:solidFill>
              </a:defRPr>
            </a:pPr>
            <a:r>
              <a:t>High-Velocity Spenders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Cluster 1  •  20.3% of Base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Profile Metrics: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Avg Income: ₹71,927</a:t>
            </a:r>
            <a:br/>
            <a:r>
              <a:t>Avg Credit Score: 698</a:t>
            </a:r>
            <a:br/>
            <a:r>
              <a:t>Avg Balance: ₹119,015</a:t>
            </a:r>
            <a:br/>
            <a:r>
              <a:t>Primary Channel: POS &amp; Online</a:t>
            </a:r>
            <a:br/>
            <a:r>
              <a:t>Transactions: 38+/month (₹2.6M)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Actionable Strategy: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Strategy: Premier cashback credit cards, merchant tie-ups, dining/travel privileges.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45920"/>
            <a:ext cx="2542032" cy="448056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Ultra HNW Commercial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Cluster 2  •  8.0% of Base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Profile Metrics: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Avg Income: ₹288,644</a:t>
            </a:r>
            <a:br/>
            <a:r>
              <a:t>Avg Credit Score: 800</a:t>
            </a:r>
            <a:br/>
            <a:r>
              <a:t>Avg Balance: ₹704,350</a:t>
            </a:r>
            <a:br/>
            <a:r>
              <a:t>Primary Channel: Omnichannel / RM</a:t>
            </a:r>
            <a:br/>
            <a:r>
              <a:t>Spending: ₹3.1M+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Actionable Strategy: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Strategy: Dedicated wealth advisory, private banking suites, customized lending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645920"/>
            <a:ext cx="2542032" cy="448056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2C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A58D"/>
                </a:solidFill>
              </a:defRPr>
            </a:pPr>
            <a:r>
              <a:t>Digital Middle-Market Savers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</a:defRPr>
            </a:pPr>
            <a:r>
              <a:t>Cluster 3  •  32.0% of Base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Profile Metrics: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Avg Income: ₹93,979</a:t>
            </a:r>
            <a:br/>
            <a:r>
              <a:t>Avg Credit Score: 740</a:t>
            </a:r>
            <a:br/>
            <a:r>
              <a:t>Avg Balance: ₹142,657</a:t>
            </a:r>
            <a:br/>
            <a:r>
              <a:t>Primary Channel: Mobile App First</a:t>
            </a:r>
            <a:br/>
            <a:r>
              <a:t>Digital Score: 3.5 / 4.0</a:t>
            </a:r>
          </a:p>
          <a:p>
            <a:pPr>
              <a:spcBef>
                <a:spcPts val="1200"/>
              </a:spcBef>
              <a:defRPr sz="1000" b="1">
                <a:solidFill>
                  <a:srgbClr val="0A2463"/>
                </a:solidFill>
              </a:defRPr>
            </a:pPr>
            <a:r>
              <a:t>Actionable Strategy: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Strategy: Pre-approved digital personal loans, mutual fund SIPs, fixed deposits.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APPLICATION &amp; DEPLOYMENT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Intelligence Dashboard: Real-Time Operational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10 of 12</a:t>
            </a:r>
          </a:p>
        </p:txBody>
      </p:sp>
      <p:pic>
        <p:nvPicPr>
          <p:cNvPr id="5" name="Picture 4" descr="Customer_Seg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035040" cy="3621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64592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463"/>
                </a:solidFill>
              </a:defRPr>
            </a:pPr>
            <a:r>
              <a:t>Dashboard Capabilities &amp; Features</a:t>
            </a:r>
          </a:p>
          <a:p>
            <a:pPr>
              <a:spcBef>
                <a:spcPts val="800"/>
              </a:spcBef>
              <a:defRPr sz="1100" b="1">
                <a:solidFill>
                  <a:srgbClr val="1E5AA8"/>
                </a:solidFill>
              </a:defRPr>
            </a:pPr>
            <a:r>
              <a:t>• Executive Overview: </a:t>
            </a:r>
            <a:r>
              <a:rPr b="0">
                <a:solidFill>
                  <a:srgbClr val="1E293B"/>
                </a:solidFill>
              </a:rPr>
              <a:t>Real-time KPI metrics tracking 150K customers, ₹149.7B transaction value, and dual-axis monthly activity charts.</a:t>
            </a:r>
          </a:p>
          <a:p>
            <a:pPr>
              <a:spcBef>
                <a:spcPts val="800"/>
              </a:spcBef>
              <a:defRPr sz="1100" b="1">
                <a:solidFill>
                  <a:srgbClr val="1E5AA8"/>
                </a:solidFill>
              </a:defRPr>
            </a:pPr>
            <a:r>
              <a:t>• Interactive Customer Insights: </a:t>
            </a:r>
            <a:r>
              <a:rPr b="0">
                <a:solidFill>
                  <a:srgbClr val="1E293B"/>
                </a:solidFill>
              </a:rPr>
              <a:t>Multi-criteria filtering by segment, risk category, and gender with fast 100x optimized search tables.</a:t>
            </a:r>
          </a:p>
          <a:p>
            <a:pPr>
              <a:spcBef>
                <a:spcPts val="800"/>
              </a:spcBef>
              <a:defRPr sz="1100" b="1">
                <a:solidFill>
                  <a:srgbClr val="1E5AA8"/>
                </a:solidFill>
              </a:defRPr>
            </a:pPr>
            <a:r>
              <a:t>• Transaction Intelligence: </a:t>
            </a:r>
            <a:r>
              <a:rPr b="0">
                <a:solidFill>
                  <a:srgbClr val="1E293B"/>
                </a:solidFill>
              </a:rPr>
              <a:t>Dynamic breakdowns of channels, transaction types, and automated fraud-flagging anomaly detection.</a:t>
            </a:r>
          </a:p>
          <a:p>
            <a:pPr>
              <a:spcBef>
                <a:spcPts val="800"/>
              </a:spcBef>
              <a:defRPr sz="1100" b="1">
                <a:solidFill>
                  <a:srgbClr val="1E5AA8"/>
                </a:solidFill>
              </a:defRPr>
            </a:pPr>
            <a:r>
              <a:t>• Real-Time AI Scorer: </a:t>
            </a:r>
            <a:r>
              <a:rPr b="0">
                <a:solidFill>
                  <a:srgbClr val="1E293B"/>
                </a:solidFill>
              </a:rPr>
              <a:t>Allows bank relationship managers to enter customer data and predict their persona + risk recommendations in under 1 millisecond.</a:t>
            </a:r>
          </a:p>
          <a:p>
            <a:pPr>
              <a:spcBef>
                <a:spcPts val="800"/>
              </a:spcBef>
              <a:defRPr sz="1100" b="1">
                <a:solidFill>
                  <a:srgbClr val="1E5AA8"/>
                </a:solidFill>
              </a:defRPr>
            </a:pPr>
            <a:r>
              <a:t>• One-Click Data Export: </a:t>
            </a:r>
            <a:r>
              <a:rPr b="0">
                <a:solidFill>
                  <a:srgbClr val="1E293B"/>
                </a:solidFill>
              </a:rPr>
              <a:t>Instant CSV export of clustered customers for downstream marketing and CRM campaigns.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BUSINESS STRATEGY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Strategic Recommendations: 4 Pillars of Bank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11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Pillar 1: Accelerate Digital Transition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Target: Mass Retail &amp; Emerging Savers</a:t>
            </a:r>
            <a:br/>
            <a:br/>
            <a:r>
              <a:t>• Deploy mobile app incentives and zero-fee UPI transfers.</a:t>
            </a:r>
            <a:br/>
            <a:r>
              <a:t>• Shift branch cash transactions to self-service digital kiosks.</a:t>
            </a:r>
            <a:br/>
            <a:r>
              <a:t>• Expected Impact: 24% reduction in branch operational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645920"/>
            <a:ext cx="2542032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5304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Pillar 2: Monetize High-Velocity Spenders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Target: High-Velocity Spenders (20.3%)</a:t>
            </a:r>
            <a:br/>
            <a:br/>
            <a:r>
              <a:t>• Launch tiered rewards cards with dining &amp; travel cashback.</a:t>
            </a:r>
            <a:br/>
            <a:r>
              <a:t>• Partner with top merchant platforms to drive interchange fee income.</a:t>
            </a:r>
            <a:br/>
            <a:r>
              <a:t>• Expected Impact: 18% lift in fee-based non-interest income.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45920"/>
            <a:ext cx="2542032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C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Pillar 3: Expand Lending to Middle Savers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Target: Digital Middle-Market Savers (32.0%)</a:t>
            </a:r>
            <a:br/>
            <a:br/>
            <a:r>
              <a:t>• Introduce pre-approved digital personal loans and auto financing.</a:t>
            </a:r>
            <a:br/>
            <a:r>
              <a:t>• Bundle automated mutual fund SIPs and fixed-deposit boosters.</a:t>
            </a:r>
            <a:br/>
            <a:r>
              <a:t>• Expected Impact: 30% increase in net interest income (NII).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645920"/>
            <a:ext cx="2542032" cy="4480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2463"/>
                </a:solidFill>
              </a:defRPr>
            </a:pPr>
            <a:r>
              <a:t>Pillar 4: Protect &amp; Grow High-Net-Worth Liquidity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Target: Ultra HNW Commercial Clients (8.0%)</a:t>
            </a:r>
            <a:br/>
            <a:br/>
            <a:r>
              <a:t>• Assign dedicated Wealth Relationship Managers.</a:t>
            </a:r>
            <a:br/>
            <a:r>
              <a:t>• Offer multi-currency accounts and treasury liquidity sweeps.</a:t>
            </a:r>
            <a:br/>
            <a:r>
              <a:t>• Expected Impact: 98% retention of top-tier deposit reserves.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E92CC"/>
                </a:solidFill>
                <a:latin typeface="Arial"/>
              </a:defRPr>
            </a:pPr>
            <a:r>
              <a:t>NEXT STEPS</a:t>
            </a:r>
          </a:p>
          <a:p>
            <a:pPr>
              <a:spcBef>
                <a:spcPts val="400"/>
              </a:spcBef>
              <a:defRPr sz="2200" b="1">
                <a:solidFill>
                  <a:srgbClr val="0A2463"/>
                </a:solidFill>
                <a:latin typeface="Arial"/>
              </a:defRPr>
            </a:pPr>
            <a:r>
              <a:t>Execution Roadmap: 30-60-90 Day Action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E92CC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TrustWave Bank — Data-Driven Business Insights Pitch  |  Slide 12 of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E92CC"/>
                </a:solidFill>
              </a:defRPr>
            </a:pPr>
            <a:r>
              <a:t>Days 1 – 30: Quick Wins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</a:defRPr>
            </a:pPr>
            <a:r>
              <a:t>• Deploy the Intelligence Dashboard across branch operations.</a:t>
            </a:r>
            <a:br/>
            <a:r>
              <a:t>• Roll out automated SMS alerts for card and failed digital transactions.</a:t>
            </a:r>
            <a:br/>
            <a:r>
              <a:t>• Begin targeted mobile app onboarding for Mass Retail customers.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290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783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5AA8"/>
                </a:solidFill>
              </a:defRPr>
            </a:pPr>
            <a:r>
              <a:t>Days 31 – 60: Growth Initiatives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</a:defRPr>
            </a:pPr>
            <a:r>
              <a:t>• Launch tailored Cashback Credit Card pilot for High-Velocity Spenders.</a:t>
            </a:r>
            <a:br/>
            <a:r>
              <a:t>• Introduce pre-approved digital loan pre-screening for Middle Savers.</a:t>
            </a:r>
            <a:br/>
            <a:r>
              <a:t>• Establish dedicated HNW concierge desks in top metro branches.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45920"/>
            <a:ext cx="3429000" cy="3657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A24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783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463"/>
                </a:solidFill>
              </a:defRPr>
            </a:pPr>
            <a:r>
              <a:t>Days 61 – 90: Scale &amp; Integration</a:t>
            </a:r>
          </a:p>
          <a:p>
            <a:pPr>
              <a:spcBef>
                <a:spcPts val="1400"/>
              </a:spcBef>
              <a:defRPr sz="1100">
                <a:solidFill>
                  <a:srgbClr val="1E293B"/>
                </a:solidFill>
              </a:defRPr>
            </a:pPr>
            <a:r>
              <a:t>• Fully integrate K-Means Persona Scorer into Core Banking CRM.</a:t>
            </a:r>
            <a:br/>
            <a:r>
              <a:t>• Automate 80% of routine complaint resolution via conversational AI.</a:t>
            </a:r>
            <a:br/>
            <a:r>
              <a:t>• Conduct quarterly review of customer retention and NIM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0A2463"/>
          </a:solidFill>
          <a:ln>
            <a:solidFill>
              <a:srgbClr val="3E9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🤝 Thank You! Ready for Executive Q&amp;A and Strategic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